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Sistema de Reciclaje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6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Identificación de productos mediante CLIP ViT-B/32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04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Universidad de Alicante — Interfaces de Usuario — Curso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Calibri"/>
              </a:defRPr>
            </a:pPr>
            <a:r>
              <a:t>Arquitectura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900000"/>
            <a:ext cx="3420000" cy="5220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972000"/>
            <a:ext cx="34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8E3C"/>
                </a:solidFill>
                <a:latin typeface="Calibri"/>
              </a:defRPr>
            </a:pPr>
            <a:r>
              <a:t>Cliente JavaFX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000" y="162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Aplicación de escritorio MVC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000" y="234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Vistas FXML + Controllers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000" y="306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Cámara OpenCV integrada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" y="378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Interfaz verde corporativa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" y="450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Validación y registro local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6000" y="900000"/>
            <a:ext cx="3420000" cy="5220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6000" y="972000"/>
            <a:ext cx="34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8E3C"/>
                </a:solidFill>
                <a:latin typeface="Calibri"/>
              </a:defRPr>
            </a:pPr>
            <a:r>
              <a:t>API REST Spring 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000" y="162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Servidor EC2 (puerto :3000)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234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Autenticación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06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Endpoints RESTful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000" y="378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Conexión con base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000" y="450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Validación de usuarios por TAP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4000" y="900000"/>
            <a:ext cx="3420000" cy="5220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4000" y="972000"/>
            <a:ext cx="34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8E3C"/>
                </a:solidFill>
                <a:latin typeface="Calibri"/>
              </a:defRPr>
            </a:pPr>
            <a:r>
              <a:t>Servicio CLIP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4000" y="162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Contenedor Docker en EC2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4000" y="234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Modelo ViT-B/32 de OpenAI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000" y="306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Embeddings de 512 dimensiones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4000" y="378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Endpoint en puerto :8080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4000" y="4500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Comunicación síncrona con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2000" y="324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8E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0000" y="324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8E3C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Calibri"/>
              </a:defRPr>
            </a:pPr>
            <a:r>
              <a:t>Cámara Asíncrona y ProgressBar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108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OpenCV FrameGrabber para captura de video en tiempo real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Square crop: 640×480 → 480×480 (recorte cuadrado centrado)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Inicialización en hilo secundario (background thread)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ProgressBar indeterminada durante el arranque de la cámara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AtomicBoolean guard para evitar doble inicialización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Liberación correcta de recursos al cerrar la aplicación</a:t>
            </a:r>
          </a:p>
        </p:txBody>
      </p:sp>
      <p:sp>
        <p:nvSpPr>
          <p:cNvPr id="5" name="Oval 4"/>
          <p:cNvSpPr/>
          <p:nvPr/>
        </p:nvSpPr>
        <p:spPr>
          <a:xfrm>
            <a:off x="540000" y="1134000"/>
            <a:ext cx="108000" cy="108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0000" y="1782000"/>
            <a:ext cx="108000" cy="108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0000" y="2430000"/>
            <a:ext cx="108000" cy="108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0000" y="3078000"/>
            <a:ext cx="108000" cy="108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0000" y="3726000"/>
            <a:ext cx="108000" cy="108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0000" y="4374000"/>
            <a:ext cx="108000" cy="108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Calibri"/>
              </a:defRPr>
            </a:pPr>
            <a:r>
              <a:t>Eliminación de Fondo: Flood Fill en Java Puro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00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260000"/>
            <a:ext cx="5040000" cy="1980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999" y="1332000"/>
            <a:ext cx="46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GrabCut de OpenCV causa crashes JVM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Código nativo inestable en diferentes plataformas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Dependencia de bibliotecas nativas problemática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Errores difíciles de depurar y reproducir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900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8E3C"/>
                </a:solidFill>
                <a:latin typeface="Calibri"/>
              </a:defRPr>
            </a:pPr>
            <a:r>
              <a:t>Solución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0" y="1260000"/>
            <a:ext cx="5040000" cy="198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0" y="1332000"/>
            <a:ext cx="46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Flood Fill en Java puro (sin código nativo)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Gradiente estilo Sobel para detección de bordes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Flood fill desde esquinas con umbral configurable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Median blur 3×3 en máscara resultante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Slider de sensibilidad (5–100) para ajuste fino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Sin código nativo → sin crashes JVM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160000" y="3780000"/>
          <a:ext cx="72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2160000"/>
                <a:gridCol w="216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Método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Velocidad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Estabilidad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GrabCut (OpenCV)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Rápido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Crash JVM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Flood Fill (Java)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88E3C"/>
                          </a:solidFill>
                          <a:latin typeface="Calibri"/>
                        </a:defRPr>
                      </a:pPr>
                      <a:r>
                        <a:t>100% estable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Calibri"/>
              </a:defRPr>
            </a:pPr>
            <a:r>
              <a:t>Tabla de Resultados con Umbral de Confianza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8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TableView con productos ordenados por score descendente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Umbral de confianza: 47% (RED_THRESHOLD = 0.47)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Productos con score &lt; 47% se muestran en rojo + negrita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Selección bloqueada (selection listener previene selección)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Campo de búsqueda para filtrar por nombre de producto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0000" y="3780000"/>
          <a:ext cx="90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3240000"/>
                <a:gridCol w="1800000"/>
                <a:gridCol w="2160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Producto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Botella 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Latón de refresco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Cartón leche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P004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Plástico film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V005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Vidrio roto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Calibri"/>
              </a:defRPr>
            </a:pPr>
            <a:r>
              <a:t>CLIP ViT-B/32 y Coincidencia Híbrida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108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Modelo: ViT-B/32 (Vision Transformer), embeddings de 512 dimensiones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8 embeddings de productos precomputados para matching rápido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Matching híbrido: imagen + texto (BLEND_WEIGHT = 0.5)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Inferencia ~500ms en instancia t3.small de AWS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Top-5 resultados devueltos ordenados por similitud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Coseno similitud entre embedding de consulta y precomputados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044000"/>
            <a:ext cx="109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0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Modelo: ViT-B/32 (Vision Transformer), embeddings de 512 dimensiones</a:t>
            </a:r>
          </a:p>
        </p:txBody>
      </p:sp>
      <p:sp>
        <p:nvSpPr>
          <p:cNvPr id="7" name="Oval 6"/>
          <p:cNvSpPr/>
          <p:nvPr/>
        </p:nvSpPr>
        <p:spPr>
          <a:xfrm>
            <a:off x="540000" y="1134000"/>
            <a:ext cx="108000" cy="108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0000" y="1782000"/>
            <a:ext cx="108000" cy="108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0000" y="2430000"/>
            <a:ext cx="108000" cy="108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0000" y="3078000"/>
            <a:ext cx="108000" cy="108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0000" y="3726000"/>
            <a:ext cx="108000" cy="108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0000" y="4374000"/>
            <a:ext cx="108000" cy="108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Calibri"/>
              </a:defRPr>
            </a:pPr>
            <a:r>
              <a:t>Modal Único: Confirmación y Selección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900000"/>
            <a:ext cx="2520000" cy="126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972000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1. Capturar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000" y="1332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Tomar foto con la cámara OpenCV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8000" y="900000"/>
            <a:ext cx="2520000" cy="126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6000" y="972000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2. Confirmar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6000" y="1332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Vista previa en modal con opciones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8000" y="900000"/>
            <a:ext cx="2520000" cy="126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76000" y="972000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3. Eliminar fondo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000" y="1332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Slider de sensibilidad (opcional)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28000" y="900000"/>
            <a:ext cx="2520000" cy="126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36000" y="972000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4. Vista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6000" y="1332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Previsualización 224×224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8000" y="2700000"/>
            <a:ext cx="2520000" cy="126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000" y="2772000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5. Enviar a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" y="3132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Imagen → API REST → CLIP → resultados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8000" y="2700000"/>
            <a:ext cx="2520000" cy="126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16000" y="2772000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6. Seleccionar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6000" y="3132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TAP + tabla de productos + Accept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8000" y="2700000"/>
            <a:ext cx="2520000" cy="126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000" y="2772000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7. Validar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000" y="3132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Validar TAP y registrar reciclaje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4000" y="133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8E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4000" y="133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8E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4000" y="133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8E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8000" y="2178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8E3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4000" y="313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8E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4000" y="313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8E3C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Calibri"/>
              </a:defRPr>
            </a:pPr>
            <a:r>
              <a:t>Problemas y Soluciones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80000" y="1080000"/>
          <a:ext cx="972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/>
                <a:gridCol w="5760000"/>
              </a:tblGrid>
              <a:tr h="780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Problema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Solución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GrabCut crashes JVM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Flood Fill en Java puro (sin código nativo)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UI freeze al iniciar cámara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Background thread + ProgressBar indeterminada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Doble clic en botón de cámara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AtomicBoolean guard para evitar doble inicio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Selección de productos con score bajo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Umbral rojo (47%) + deshabilitado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Disco EC2 lleno (/var)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Docker system prune automatizado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108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CLIP ViT-B/32 identifica productos de reciclaje eficazmente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Java puro evita problemas de código nativo (sin crashes JVM)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Arquitectura escalable basada en API REST + Docker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Interfaz intuitiva y responsiva con feedback visual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Trabajo futuro: más productos, app móvil, mejorar bg removal</a:t>
            </a:r>
          </a:p>
        </p:txBody>
      </p:sp>
      <p:sp>
        <p:nvSpPr>
          <p:cNvPr id="5" name="Oval 4"/>
          <p:cNvSpPr/>
          <p:nvPr/>
        </p:nvSpPr>
        <p:spPr>
          <a:xfrm>
            <a:off x="540000" y="1134000"/>
            <a:ext cx="144000" cy="1440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0000" y="1854000"/>
            <a:ext cx="144000" cy="1440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0000" y="2574000"/>
            <a:ext cx="144000" cy="1440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0000" y="3294000"/>
            <a:ext cx="144000" cy="1440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0000" y="4014000"/>
            <a:ext cx="144000" cy="1440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24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