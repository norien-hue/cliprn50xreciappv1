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A1FC599-E83C-408E-A855-8C344AD7B5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A872772-0F1B-4D8C-AE7B-C708265ADF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270BA8F-D8BA-438A-9EA3-D867A4EBAD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CEDE00B-7C43-42B8-AE23-9E39D4CE18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16660F2-5E42-4F2E-B539-C9FFC221DB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CE570CB-D2D3-40D6-B1D3-8947CE526A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952EA78-80D7-4361-A96E-F71F2850EA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2E1F6E86-566A-4920-8E90-5A30E3E7DF8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265F823-1260-4D59-8F8A-E8D4CE2C6D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9EE7A62E-229E-4DEE-B7E0-97133C13A03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FE25CE74-D5F5-4260-A368-A8C64F1C13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4AE56F-88DA-4CD9-A034-CE706C9E5E6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A6DD597-B615-4B6F-B386-3B5EB462C6F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33837C-5FD1-4F78-AA0A-D2C2AB4E2E0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00C84EC-B55D-4099-9221-2901E4DFF40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38017E-B707-4C26-84EF-48C6AFE5DA0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387BD08-1FE8-43EB-82E7-A96767542B3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398335-2A45-4120-81F2-4D960CEB32B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160708-D935-4A18-9D94-7A939141DA3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B14E29-9795-4DDA-88AD-317EAE7C579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Pulse para editar el formato del texto de título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Pulse para editar el formato de texto del esquema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Segundo nivel del esquema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Tercer nivel del esquema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Cuarto nivel del esquema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Quinto nivel del esquema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Sexto nivel del esquema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Séptimo nivel del esquema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EAB3962-0B9B-4625-AAE3-C9EA45D2BDF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Pulse para editar el formato de texto del esquema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Segundo nivel del esquema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Tercer nivel del esquema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Cuarto nivel del esquema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Quinto nivel del esquema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Sexto nivel del esquema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Séptimo nivel del esquema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732C7C-7D51-4C94-85ED-998918438FB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720000" y="2160000"/>
            <a:ext cx="10751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ffffff"/>
                </a:solidFill>
                <a:uFillTx/>
                <a:latin typeface="Calibri"/>
              </a:rPr>
              <a:t>Sistema de Reciclaje Inteligente</a:t>
            </a:r>
            <a:endParaRPr b="0" lang="es-ES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720000" y="3060000"/>
            <a:ext cx="107517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rgbClr val="ffffff"/>
                </a:solidFill>
                <a:uFillTx/>
                <a:latin typeface="Calibri"/>
              </a:rPr>
              <a:t>Identificación de productos mediante CLIP ViT-B/32</a:t>
            </a:r>
            <a:endParaRPr b="0" lang="es-E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720000" y="5040000"/>
            <a:ext cx="10751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uFillTx/>
                <a:latin typeface="Calibri"/>
              </a:rPr>
              <a:t>Universidad de Alicante — Interfaces de Usuario — Curso 2025–2026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1"/>
          <p:cNvSpPr/>
          <p:nvPr/>
        </p:nvSpPr>
        <p:spPr>
          <a:xfrm>
            <a:off x="0" y="0"/>
            <a:ext cx="10764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540000" y="216000"/>
            <a:ext cx="11159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trike="noStrike" u="none">
                <a:solidFill>
                  <a:srgbClr val="2e7d32"/>
                </a:solidFill>
                <a:uFillTx/>
                <a:latin typeface="Calibri"/>
              </a:rPr>
              <a:t>Arquitectura del Sistema</a:t>
            </a:r>
            <a:endParaRPr b="0" lang="es-E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Rectangle 3"/>
          <p:cNvSpPr/>
          <p:nvPr/>
        </p:nvSpPr>
        <p:spPr>
          <a:xfrm>
            <a:off x="648000" y="900000"/>
            <a:ext cx="3419640" cy="5219640"/>
          </a:xfrm>
          <a:prstGeom prst="rect">
            <a:avLst/>
          </a:prstGeom>
          <a:solidFill>
            <a:srgbClr val="f1f8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4" name="TextBox 4"/>
          <p:cNvSpPr/>
          <p:nvPr/>
        </p:nvSpPr>
        <p:spPr>
          <a:xfrm>
            <a:off x="648000" y="972000"/>
            <a:ext cx="3419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388e3c"/>
                </a:solidFill>
                <a:uFillTx/>
                <a:latin typeface="Calibri"/>
              </a:rPr>
              <a:t>Cliente JavaFX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" name="TextBox 5"/>
          <p:cNvSpPr/>
          <p:nvPr/>
        </p:nvSpPr>
        <p:spPr>
          <a:xfrm>
            <a:off x="828000" y="162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Aplicación de escritorio MVC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TextBox 6"/>
          <p:cNvSpPr/>
          <p:nvPr/>
        </p:nvSpPr>
        <p:spPr>
          <a:xfrm>
            <a:off x="828000" y="234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Vistas FXML + Controllers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TextBox 7"/>
          <p:cNvSpPr/>
          <p:nvPr/>
        </p:nvSpPr>
        <p:spPr>
          <a:xfrm>
            <a:off x="828000" y="306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Cámara OpenCV integrada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" name="TextBox 8"/>
          <p:cNvSpPr/>
          <p:nvPr/>
        </p:nvSpPr>
        <p:spPr>
          <a:xfrm>
            <a:off x="828000" y="378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Interfaz verde corporativa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" name="TextBox 9"/>
          <p:cNvSpPr/>
          <p:nvPr/>
        </p:nvSpPr>
        <p:spPr>
          <a:xfrm>
            <a:off x="828000" y="450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Validación y registro local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" name="Rectangle 10"/>
          <p:cNvSpPr/>
          <p:nvPr/>
        </p:nvSpPr>
        <p:spPr>
          <a:xfrm>
            <a:off x="4356000" y="900000"/>
            <a:ext cx="3419640" cy="5219640"/>
          </a:xfrm>
          <a:prstGeom prst="rect">
            <a:avLst/>
          </a:prstGeom>
          <a:solidFill>
            <a:srgbClr val="f1f8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1" name="TextBox 11"/>
          <p:cNvSpPr/>
          <p:nvPr/>
        </p:nvSpPr>
        <p:spPr>
          <a:xfrm>
            <a:off x="4356000" y="972000"/>
            <a:ext cx="3419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388e3c"/>
                </a:solidFill>
                <a:uFillTx/>
                <a:latin typeface="Calibri"/>
              </a:rPr>
              <a:t>API REST Spring Boot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" name="TextBox 12"/>
          <p:cNvSpPr/>
          <p:nvPr/>
        </p:nvSpPr>
        <p:spPr>
          <a:xfrm>
            <a:off x="4536000" y="162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Servidor EC2 (puerto :3000)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" name="TextBox 13"/>
          <p:cNvSpPr/>
          <p:nvPr/>
        </p:nvSpPr>
        <p:spPr>
          <a:xfrm>
            <a:off x="4536000" y="234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Autenticación JWT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" name="TextBox 14"/>
          <p:cNvSpPr/>
          <p:nvPr/>
        </p:nvSpPr>
        <p:spPr>
          <a:xfrm>
            <a:off x="4536000" y="306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Endpoints RESTful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" name="TextBox 15"/>
          <p:cNvSpPr/>
          <p:nvPr/>
        </p:nvSpPr>
        <p:spPr>
          <a:xfrm>
            <a:off x="4536000" y="378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Conexión con base de datos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" name="TextBox 16"/>
          <p:cNvSpPr/>
          <p:nvPr/>
        </p:nvSpPr>
        <p:spPr>
          <a:xfrm>
            <a:off x="4536000" y="450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Validación de usuarios por TAP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Rectangle 17"/>
          <p:cNvSpPr/>
          <p:nvPr/>
        </p:nvSpPr>
        <p:spPr>
          <a:xfrm>
            <a:off x="8064000" y="900000"/>
            <a:ext cx="3419640" cy="5219640"/>
          </a:xfrm>
          <a:prstGeom prst="rect">
            <a:avLst/>
          </a:prstGeom>
          <a:solidFill>
            <a:srgbClr val="f1f8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" name="TextBox 18"/>
          <p:cNvSpPr/>
          <p:nvPr/>
        </p:nvSpPr>
        <p:spPr>
          <a:xfrm>
            <a:off x="8064000" y="972000"/>
            <a:ext cx="3419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388e3c"/>
                </a:solidFill>
                <a:uFillTx/>
                <a:latin typeface="Calibri"/>
              </a:rPr>
              <a:t>Servicio CLIP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" name="TextBox 19"/>
          <p:cNvSpPr/>
          <p:nvPr/>
        </p:nvSpPr>
        <p:spPr>
          <a:xfrm>
            <a:off x="8244000" y="162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Contenedor Docker en EC2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" name="TextBox 20"/>
          <p:cNvSpPr/>
          <p:nvPr/>
        </p:nvSpPr>
        <p:spPr>
          <a:xfrm>
            <a:off x="8244000" y="234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Modelo ViT-B/32 de OpenAI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" name="TextBox 21"/>
          <p:cNvSpPr/>
          <p:nvPr/>
        </p:nvSpPr>
        <p:spPr>
          <a:xfrm>
            <a:off x="8244000" y="306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Embeddings de 512 dimensiones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" name="TextBox 22"/>
          <p:cNvSpPr/>
          <p:nvPr/>
        </p:nvSpPr>
        <p:spPr>
          <a:xfrm>
            <a:off x="8244000" y="378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Endpoint en puerto :8080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" name="TextBox 23"/>
          <p:cNvSpPr/>
          <p:nvPr/>
        </p:nvSpPr>
        <p:spPr>
          <a:xfrm>
            <a:off x="8244000" y="4500000"/>
            <a:ext cx="3059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• </a:t>
            </a:r>
            <a:r>
              <a:rPr b="0" lang="en-US" sz="1300" strike="noStrike" u="none">
                <a:solidFill>
                  <a:srgbClr val="333333"/>
                </a:solidFill>
                <a:uFillTx/>
                <a:latin typeface="Calibri"/>
              </a:rPr>
              <a:t>Comunicación síncrona con API</a:t>
            </a:r>
            <a:endParaRPr b="0" lang="es-E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" name="TextBox 24"/>
          <p:cNvSpPr/>
          <p:nvPr/>
        </p:nvSpPr>
        <p:spPr>
          <a:xfrm>
            <a:off x="4122000" y="3240000"/>
            <a:ext cx="359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400" strike="noStrike" u="none">
                <a:solidFill>
                  <a:srgbClr val="388e3c"/>
                </a:solidFill>
                <a:uFillTx/>
                <a:latin typeface="Calibri"/>
              </a:rPr>
              <a:t>→</a:t>
            </a:r>
            <a:endParaRPr b="0" lang="es-E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" name="TextBox 25"/>
          <p:cNvSpPr/>
          <p:nvPr/>
        </p:nvSpPr>
        <p:spPr>
          <a:xfrm>
            <a:off x="7830000" y="3240000"/>
            <a:ext cx="359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400" strike="noStrike" u="none">
                <a:solidFill>
                  <a:srgbClr val="388e3c"/>
                </a:solidFill>
                <a:uFillTx/>
                <a:latin typeface="Calibri"/>
              </a:rPr>
              <a:t>→</a:t>
            </a:r>
            <a:endParaRPr b="0" lang="es-E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0" y="0"/>
            <a:ext cx="10764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7" name="TextBox 2"/>
          <p:cNvSpPr/>
          <p:nvPr/>
        </p:nvSpPr>
        <p:spPr>
          <a:xfrm>
            <a:off x="540000" y="216000"/>
            <a:ext cx="11159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trike="noStrike" u="none">
                <a:solidFill>
                  <a:srgbClr val="2e7d32"/>
                </a:solidFill>
                <a:uFillTx/>
                <a:latin typeface="Calibri"/>
              </a:rPr>
              <a:t>Cámara Asíncrona y ProgressBar</a:t>
            </a:r>
            <a:endParaRPr b="0" lang="es-E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792000" y="1037520"/>
            <a:ext cx="10799640" cy="359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OpenCV FrameGrabber para captura de video en tiempo real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Square crop: 640×480 → 480×480 (recorte cuadrado centrado)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Inicialización en hilo secundario (background thread)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ProgressBar indeterminada durante el arranque de la cámara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AtomicBoolean guard para evitar doble inicialización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Liberación correcta de recursos al cerrar la aplicación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sp>
        <p:nvSpPr>
          <p:cNvPr id="99" name="Oval 4"/>
          <p:cNvSpPr/>
          <p:nvPr/>
        </p:nvSpPr>
        <p:spPr>
          <a:xfrm>
            <a:off x="540000" y="1134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0" name="Oval 5"/>
          <p:cNvSpPr/>
          <p:nvPr/>
        </p:nvSpPr>
        <p:spPr>
          <a:xfrm>
            <a:off x="540000" y="1782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1" name="Oval 6"/>
          <p:cNvSpPr/>
          <p:nvPr/>
        </p:nvSpPr>
        <p:spPr>
          <a:xfrm>
            <a:off x="540000" y="2430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2" name="Oval 7"/>
          <p:cNvSpPr/>
          <p:nvPr/>
        </p:nvSpPr>
        <p:spPr>
          <a:xfrm>
            <a:off x="540000" y="3078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3" name="Oval 8"/>
          <p:cNvSpPr/>
          <p:nvPr/>
        </p:nvSpPr>
        <p:spPr>
          <a:xfrm>
            <a:off x="540000" y="3726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4" name="Oval 9"/>
          <p:cNvSpPr/>
          <p:nvPr/>
        </p:nvSpPr>
        <p:spPr>
          <a:xfrm>
            <a:off x="540000" y="4374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0764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6" name="TextBox 2"/>
          <p:cNvSpPr/>
          <p:nvPr/>
        </p:nvSpPr>
        <p:spPr>
          <a:xfrm>
            <a:off x="540000" y="216000"/>
            <a:ext cx="11159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trike="noStrike" u="none">
                <a:solidFill>
                  <a:srgbClr val="2e7d32"/>
                </a:solidFill>
                <a:uFillTx/>
                <a:latin typeface="Calibri"/>
              </a:rPr>
              <a:t>Eliminación de Fondo: Flood Fill en Java Puro</a:t>
            </a:r>
            <a:endParaRPr b="0" lang="es-E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" name="TextBox 3"/>
          <p:cNvSpPr/>
          <p:nvPr/>
        </p:nvSpPr>
        <p:spPr>
          <a:xfrm>
            <a:off x="648000" y="900000"/>
            <a:ext cx="50396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c62828"/>
                </a:solidFill>
                <a:uFillTx/>
                <a:latin typeface="Calibri"/>
              </a:rPr>
              <a:t>Problema</a:t>
            </a:r>
            <a:endParaRPr b="0" lang="es-E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" name="Rectangle 4"/>
          <p:cNvSpPr/>
          <p:nvPr/>
        </p:nvSpPr>
        <p:spPr>
          <a:xfrm>
            <a:off x="648000" y="1260000"/>
            <a:ext cx="5039640" cy="197964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9" name="TextBox 5"/>
          <p:cNvSpPr/>
          <p:nvPr/>
        </p:nvSpPr>
        <p:spPr>
          <a:xfrm>
            <a:off x="828000" y="1332000"/>
            <a:ext cx="4679640" cy="12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GrabCut de OpenCV causa crashes JVM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Código nativo inestable en diferentes plataformas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Dependencia de bibliotecas nativas problemática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Errores difíciles de depurar y reproducir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6300000" y="900000"/>
            <a:ext cx="50396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388e3c"/>
                </a:solidFill>
                <a:uFillTx/>
                <a:latin typeface="Calibri"/>
              </a:rPr>
              <a:t>Solución</a:t>
            </a:r>
            <a:endParaRPr b="0" lang="es-E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6300000" y="1260000"/>
            <a:ext cx="5039640" cy="1979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2" name="TextBox 8"/>
          <p:cNvSpPr/>
          <p:nvPr/>
        </p:nvSpPr>
        <p:spPr>
          <a:xfrm>
            <a:off x="6480000" y="1332000"/>
            <a:ext cx="4679640" cy="187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Flood Fill en Java puro (sin código nativo)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Gradiente estilo Sobel para detección de bordes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Flood fill desde esquinas con umbral configurable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Median blur 3×3 en máscara resultante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Slider de sensibilidad (5–100) para ajuste fino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400" strike="noStrike" u="none">
                <a:solidFill>
                  <a:srgbClr val="333333"/>
                </a:solidFill>
                <a:uFillTx/>
                <a:latin typeface="Calibri"/>
              </a:rPr>
              <a:t>Sin código nativo → sin crashes JVM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13" name="Table 9"/>
          <p:cNvGraphicFramePr/>
          <p:nvPr/>
        </p:nvGraphicFramePr>
        <p:xfrm>
          <a:off x="2160000" y="3780000"/>
          <a:ext cx="7199640" cy="1799640"/>
        </p:xfrm>
        <a:graphic>
          <a:graphicData uri="http://schemas.openxmlformats.org/drawingml/2006/table">
            <a:tbl>
              <a:tblPr/>
              <a:tblGrid>
                <a:gridCol w="2880000"/>
                <a:gridCol w="2160000"/>
                <a:gridCol w="2160000"/>
              </a:tblGrid>
              <a:tr h="59976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600" strike="noStrike" u="none">
                          <a:solidFill>
                            <a:srgbClr val="ffffff"/>
                          </a:solidFill>
                          <a:uFillTx/>
                          <a:latin typeface="Calibri"/>
                        </a:rPr>
                        <a:t>Método</a:t>
                      </a:r>
                      <a:endParaRPr b="0" lang="es-ES" sz="16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600" strike="noStrike" u="none">
                          <a:solidFill>
                            <a:srgbClr val="ffffff"/>
                          </a:solidFill>
                          <a:uFillTx/>
                          <a:latin typeface="Calibri"/>
                        </a:rPr>
                        <a:t>Velocidad</a:t>
                      </a:r>
                      <a:endParaRPr b="0" lang="es-ES" sz="16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600" strike="noStrike" u="none">
                          <a:solidFill>
                            <a:srgbClr val="ffffff"/>
                          </a:solidFill>
                          <a:uFillTx/>
                          <a:latin typeface="Calibri"/>
                        </a:rPr>
                        <a:t>Estabilidad</a:t>
                      </a:r>
                      <a:endParaRPr b="0" lang="es-ES" sz="16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d32"/>
                    </a:solidFill>
                  </a:tcPr>
                </a:tc>
              </a:tr>
              <a:tr h="59976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GrabCut (OpenCV)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Rápido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c62828"/>
                          </a:solidFill>
                          <a:uFillTx/>
                          <a:latin typeface="Calibri"/>
                        </a:rPr>
                        <a:t>Crash JVM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</a:tr>
              <a:tr h="59976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Flood Fill (Java)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Medio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388e3c"/>
                          </a:solidFill>
                          <a:uFillTx/>
                          <a:latin typeface="Calibri"/>
                        </a:rPr>
                        <a:t>100% estable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0" y="0"/>
            <a:ext cx="10764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540000" y="216000"/>
            <a:ext cx="11159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trike="noStrike" u="none">
                <a:solidFill>
                  <a:srgbClr val="2e7d32"/>
                </a:solidFill>
                <a:uFillTx/>
                <a:latin typeface="Calibri"/>
              </a:rPr>
              <a:t>Tabla de Resultados con Umbral de Confianza</a:t>
            </a:r>
            <a:endParaRPr b="0" lang="es-E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720000" y="1080000"/>
            <a:ext cx="10799640" cy="179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TableView con productos ordenados por score descendente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Umbral de confianza: 47% (RED_THRESHOLD = 0.47)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Productos con score &lt; 47% se muestran en rojo + negrita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Selección bloqueada (selection listener previene selección)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Campo de búsqueda para filtrar por nombre de producto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17" name="Table 4"/>
          <p:cNvGraphicFramePr/>
          <p:nvPr/>
        </p:nvGraphicFramePr>
        <p:xfrm>
          <a:off x="1440000" y="3780000"/>
          <a:ext cx="8999640" cy="2160000"/>
        </p:xfrm>
        <a:graphic>
          <a:graphicData uri="http://schemas.openxmlformats.org/drawingml/2006/table">
            <a:tbl>
              <a:tblPr/>
              <a:tblGrid>
                <a:gridCol w="1800000"/>
                <a:gridCol w="3240000"/>
                <a:gridCol w="1800000"/>
                <a:gridCol w="2160000"/>
              </a:tblGrid>
              <a:tr h="36000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600" strike="noStrike" u="none">
                          <a:solidFill>
                            <a:srgbClr val="ffffff"/>
                          </a:solidFill>
                          <a:uFillTx/>
                          <a:latin typeface="Calibri"/>
                        </a:rPr>
                        <a:t>Código</a:t>
                      </a:r>
                      <a:endParaRPr b="0" lang="es-ES" sz="16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600" strike="noStrike" u="none">
                          <a:solidFill>
                            <a:srgbClr val="ffffff"/>
                          </a:solidFill>
                          <a:uFillTx/>
                          <a:latin typeface="Calibri"/>
                        </a:rPr>
                        <a:t>Producto</a:t>
                      </a:r>
                      <a:endParaRPr b="0" lang="es-ES" sz="16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600" strike="noStrike" u="none">
                          <a:solidFill>
                            <a:srgbClr val="ffffff"/>
                          </a:solidFill>
                          <a:uFillTx/>
                          <a:latin typeface="Calibri"/>
                        </a:rPr>
                        <a:t>Score</a:t>
                      </a:r>
                      <a:endParaRPr b="0" lang="es-ES" sz="16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600" strike="noStrike" u="none">
                          <a:solidFill>
                            <a:srgbClr val="ffffff"/>
                          </a:solidFill>
                          <a:uFillTx/>
                          <a:latin typeface="Calibri"/>
                        </a:rPr>
                        <a:t>Estado</a:t>
                      </a:r>
                      <a:endParaRPr b="0" lang="es-ES" sz="16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d32"/>
                    </a:solidFill>
                  </a:tcPr>
                </a:tc>
              </a:tr>
              <a:tr h="36000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B001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Botella PET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92%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OK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L002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Latón de refresco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78%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OK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C003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Cartón leche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65%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OK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c62828"/>
                          </a:solidFill>
                          <a:uFillTx/>
                          <a:latin typeface="Calibri"/>
                        </a:rPr>
                        <a:t>P004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c62828"/>
                          </a:solidFill>
                          <a:uFillTx/>
                          <a:latin typeface="Calibri"/>
                        </a:rPr>
                        <a:t>Plástico film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c62828"/>
                          </a:solidFill>
                          <a:uFillTx/>
                          <a:latin typeface="Calibri"/>
                        </a:rPr>
                        <a:t>42%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c62828"/>
                          </a:solidFill>
                          <a:uFillTx/>
                          <a:latin typeface="Calibri"/>
                        </a:rPr>
                        <a:t>BAJO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</a:tr>
              <a:tr h="36000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c62828"/>
                          </a:solidFill>
                          <a:uFillTx/>
                          <a:latin typeface="Calibri"/>
                        </a:rPr>
                        <a:t>V005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c62828"/>
                          </a:solidFill>
                          <a:uFillTx/>
                          <a:latin typeface="Calibri"/>
                        </a:rPr>
                        <a:t>Vidrio roto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c62828"/>
                          </a:solidFill>
                          <a:uFillTx/>
                          <a:latin typeface="Calibri"/>
                        </a:rPr>
                        <a:t>31%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c62828"/>
                          </a:solidFill>
                          <a:uFillTx/>
                          <a:latin typeface="Calibri"/>
                        </a:rPr>
                        <a:t>BAJO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0" y="0"/>
            <a:ext cx="10764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9" name="TextBox 2"/>
          <p:cNvSpPr/>
          <p:nvPr/>
        </p:nvSpPr>
        <p:spPr>
          <a:xfrm>
            <a:off x="540000" y="216000"/>
            <a:ext cx="11159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trike="noStrike" u="none">
                <a:solidFill>
                  <a:srgbClr val="2e7d32"/>
                </a:solidFill>
                <a:uFillTx/>
                <a:latin typeface="Calibri"/>
              </a:rPr>
              <a:t>CLIP ViT-B/32 y Coincidencia Híbrida</a:t>
            </a:r>
            <a:endParaRPr b="0" lang="es-E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" name="TextBox 3"/>
          <p:cNvSpPr/>
          <p:nvPr/>
        </p:nvSpPr>
        <p:spPr>
          <a:xfrm>
            <a:off x="792000" y="1080000"/>
            <a:ext cx="10799640" cy="359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Modelo: ViT-B/32 (Vision Transformer), embeddings de 512 dimensiones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8 embeddings de productos precomputados para matching rápido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Matching híbrido: imagen + texto (BLEND_WEIGHT = 0.5)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Inferencia ~500ms en instancia t3.small de AWS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Top-5 resultados devueltos ordenados por similitud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Coseno similitud entre embedding de consulta y precomputados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sp>
        <p:nvSpPr>
          <p:cNvPr id="121" name="Rectangle 4"/>
          <p:cNvSpPr/>
          <p:nvPr/>
        </p:nvSpPr>
        <p:spPr>
          <a:xfrm>
            <a:off x="648000" y="1044000"/>
            <a:ext cx="10979640" cy="575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2" name="TextBox 5"/>
          <p:cNvSpPr/>
          <p:nvPr/>
        </p:nvSpPr>
        <p:spPr>
          <a:xfrm>
            <a:off x="792000" y="1080000"/>
            <a:ext cx="10799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trike="noStrike" u="none">
                <a:solidFill>
                  <a:srgbClr val="333333"/>
                </a:solidFill>
                <a:uFillTx/>
                <a:latin typeface="Calibri"/>
              </a:rPr>
              <a:t>Modelo: ViT-B/32 (Vision Transformer), embeddings de 512 dimensiones</a:t>
            </a:r>
            <a:endParaRPr b="0" lang="es-ES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3" name="Oval 6"/>
          <p:cNvSpPr/>
          <p:nvPr/>
        </p:nvSpPr>
        <p:spPr>
          <a:xfrm>
            <a:off x="540000" y="1134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4" name="Oval 7"/>
          <p:cNvSpPr/>
          <p:nvPr/>
        </p:nvSpPr>
        <p:spPr>
          <a:xfrm>
            <a:off x="540000" y="1782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5" name="Oval 8"/>
          <p:cNvSpPr/>
          <p:nvPr/>
        </p:nvSpPr>
        <p:spPr>
          <a:xfrm>
            <a:off x="540000" y="2430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6" name="Oval 9"/>
          <p:cNvSpPr/>
          <p:nvPr/>
        </p:nvSpPr>
        <p:spPr>
          <a:xfrm>
            <a:off x="540000" y="3078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7" name="Oval 10"/>
          <p:cNvSpPr/>
          <p:nvPr/>
        </p:nvSpPr>
        <p:spPr>
          <a:xfrm>
            <a:off x="540000" y="3726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8" name="Oval 11"/>
          <p:cNvSpPr/>
          <p:nvPr/>
        </p:nvSpPr>
        <p:spPr>
          <a:xfrm>
            <a:off x="540000" y="4374000"/>
            <a:ext cx="107640" cy="107640"/>
          </a:xfrm>
          <a:prstGeom prst="ellipse">
            <a:avLst/>
          </a:prstGeom>
          <a:solidFill>
            <a:srgbClr val="81c7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1680" bIns="31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tangle 3"/>
          <p:cNvSpPr/>
          <p:nvPr/>
        </p:nvSpPr>
        <p:spPr>
          <a:xfrm>
            <a:off x="648000" y="1055880"/>
            <a:ext cx="2361600" cy="1180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749160" y="1123560"/>
            <a:ext cx="2159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e7d32"/>
                </a:solidFill>
                <a:uFillTx/>
                <a:latin typeface="Calibri"/>
              </a:rPr>
              <a:t>1. Capturar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749160" y="1460880"/>
            <a:ext cx="2159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333333"/>
                </a:solidFill>
                <a:uFillTx/>
                <a:latin typeface="Calibri"/>
              </a:rPr>
              <a:t>Tomar foto con la cámara OpenCV</a:t>
            </a:r>
            <a:endParaRPr b="0" lang="es-E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" name="Rectangle 6"/>
          <p:cNvSpPr/>
          <p:nvPr/>
        </p:nvSpPr>
        <p:spPr>
          <a:xfrm>
            <a:off x="3516120" y="1055880"/>
            <a:ext cx="2361600" cy="1180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33" name="TextBox 7"/>
          <p:cNvSpPr/>
          <p:nvPr/>
        </p:nvSpPr>
        <p:spPr>
          <a:xfrm>
            <a:off x="3617280" y="1123560"/>
            <a:ext cx="2158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e7d32"/>
                </a:solidFill>
                <a:uFillTx/>
                <a:latin typeface="Calibri"/>
              </a:rPr>
              <a:t>2. Confirmar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" name="TextBox 8"/>
          <p:cNvSpPr/>
          <p:nvPr/>
        </p:nvSpPr>
        <p:spPr>
          <a:xfrm>
            <a:off x="3617280" y="1460880"/>
            <a:ext cx="21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333333"/>
                </a:solidFill>
                <a:uFillTx/>
                <a:latin typeface="Calibri"/>
              </a:rPr>
              <a:t>Vista previa en modal con opciones</a:t>
            </a:r>
            <a:endParaRPr b="0" lang="es-E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5" name="Rectangle 9"/>
          <p:cNvSpPr/>
          <p:nvPr/>
        </p:nvSpPr>
        <p:spPr>
          <a:xfrm>
            <a:off x="6383880" y="1055880"/>
            <a:ext cx="2361600" cy="1180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6485400" y="1123560"/>
            <a:ext cx="2158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e7d32"/>
                </a:solidFill>
                <a:uFillTx/>
                <a:latin typeface="Calibri"/>
              </a:rPr>
              <a:t>3. Eliminar fondo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6485400" y="1460880"/>
            <a:ext cx="21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333333"/>
                </a:solidFill>
                <a:uFillTx/>
                <a:latin typeface="Calibri"/>
              </a:rPr>
              <a:t>Slider de sensibilidad (opcional)</a:t>
            </a:r>
            <a:endParaRPr b="0" lang="es-E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8" name="Rectangle 12"/>
          <p:cNvSpPr/>
          <p:nvPr/>
        </p:nvSpPr>
        <p:spPr>
          <a:xfrm>
            <a:off x="9252000" y="1055880"/>
            <a:ext cx="2361600" cy="1180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39" name="TextBox 13"/>
          <p:cNvSpPr/>
          <p:nvPr/>
        </p:nvSpPr>
        <p:spPr>
          <a:xfrm>
            <a:off x="9353160" y="1123560"/>
            <a:ext cx="2159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e7d32"/>
                </a:solidFill>
                <a:uFillTx/>
                <a:latin typeface="Calibri"/>
              </a:rPr>
              <a:t>4. Vista IA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9353160" y="1460880"/>
            <a:ext cx="2159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333333"/>
                </a:solidFill>
                <a:uFillTx/>
                <a:latin typeface="Calibri"/>
              </a:rPr>
              <a:t>Previsualización 224×224</a:t>
            </a:r>
            <a:endParaRPr b="0" lang="es-E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1" name="Rectangle 15"/>
          <p:cNvSpPr/>
          <p:nvPr/>
        </p:nvSpPr>
        <p:spPr>
          <a:xfrm>
            <a:off x="648000" y="2743200"/>
            <a:ext cx="2361600" cy="11804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42" name="TextBox 16"/>
          <p:cNvSpPr/>
          <p:nvPr/>
        </p:nvSpPr>
        <p:spPr>
          <a:xfrm>
            <a:off x="749160" y="2810520"/>
            <a:ext cx="2159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e7d32"/>
                </a:solidFill>
                <a:uFillTx/>
                <a:latin typeface="Calibri"/>
              </a:rPr>
              <a:t>5. Enviar a API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3" name="TextBox 17"/>
          <p:cNvSpPr/>
          <p:nvPr/>
        </p:nvSpPr>
        <p:spPr>
          <a:xfrm>
            <a:off x="749160" y="3147840"/>
            <a:ext cx="2159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333333"/>
                </a:solidFill>
                <a:uFillTx/>
                <a:latin typeface="Calibri"/>
              </a:rPr>
              <a:t>Imagen → API REST → CLIP → resultados</a:t>
            </a:r>
            <a:endParaRPr b="0" lang="es-E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Rectangle 18"/>
          <p:cNvSpPr/>
          <p:nvPr/>
        </p:nvSpPr>
        <p:spPr>
          <a:xfrm>
            <a:off x="3516120" y="2743200"/>
            <a:ext cx="2361600" cy="11804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45" name="TextBox 19"/>
          <p:cNvSpPr/>
          <p:nvPr/>
        </p:nvSpPr>
        <p:spPr>
          <a:xfrm>
            <a:off x="3617280" y="2810520"/>
            <a:ext cx="2158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e7d32"/>
                </a:solidFill>
                <a:uFillTx/>
                <a:latin typeface="Calibri"/>
              </a:rPr>
              <a:t>6. Seleccionar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6" name="TextBox 20"/>
          <p:cNvSpPr/>
          <p:nvPr/>
        </p:nvSpPr>
        <p:spPr>
          <a:xfrm>
            <a:off x="3617280" y="3147840"/>
            <a:ext cx="21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333333"/>
                </a:solidFill>
                <a:uFillTx/>
                <a:latin typeface="Calibri"/>
              </a:rPr>
              <a:t>TAP + tabla de productos + Accept</a:t>
            </a:r>
            <a:endParaRPr b="0" lang="es-E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7" name="Rectangle 21"/>
          <p:cNvSpPr/>
          <p:nvPr/>
        </p:nvSpPr>
        <p:spPr>
          <a:xfrm>
            <a:off x="6383880" y="2743200"/>
            <a:ext cx="2361600" cy="11804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48" name="TextBox 22"/>
          <p:cNvSpPr/>
          <p:nvPr/>
        </p:nvSpPr>
        <p:spPr>
          <a:xfrm>
            <a:off x="6485400" y="2810520"/>
            <a:ext cx="2158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e7d32"/>
                </a:solidFill>
                <a:uFillTx/>
                <a:latin typeface="Calibri"/>
              </a:rPr>
              <a:t>7. Validar</a:t>
            </a:r>
            <a:endParaRPr b="0" lang="es-E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9" name="TextBox 23"/>
          <p:cNvSpPr/>
          <p:nvPr/>
        </p:nvSpPr>
        <p:spPr>
          <a:xfrm>
            <a:off x="6485400" y="3147840"/>
            <a:ext cx="21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333333"/>
                </a:solidFill>
                <a:uFillTx/>
                <a:latin typeface="Calibri"/>
              </a:rPr>
              <a:t>Validar TAP y registrar reciclaje</a:t>
            </a:r>
            <a:endParaRPr b="0" lang="es-E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0" name="TextBox 24"/>
          <p:cNvSpPr/>
          <p:nvPr/>
        </p:nvSpPr>
        <p:spPr>
          <a:xfrm>
            <a:off x="3043800" y="1460880"/>
            <a:ext cx="33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388e3c"/>
                </a:solidFill>
                <a:uFillTx/>
                <a:latin typeface="Calibri"/>
              </a:rPr>
              <a:t>→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1" name="TextBox 25"/>
          <p:cNvSpPr/>
          <p:nvPr/>
        </p:nvSpPr>
        <p:spPr>
          <a:xfrm>
            <a:off x="5911560" y="1460880"/>
            <a:ext cx="337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388e3c"/>
                </a:solidFill>
                <a:uFillTx/>
                <a:latin typeface="Calibri"/>
              </a:rPr>
              <a:t>→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2" name="TextBox 26"/>
          <p:cNvSpPr/>
          <p:nvPr/>
        </p:nvSpPr>
        <p:spPr>
          <a:xfrm>
            <a:off x="8779680" y="1460880"/>
            <a:ext cx="33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388e3c"/>
                </a:solidFill>
                <a:uFillTx/>
                <a:latin typeface="Calibri"/>
              </a:rPr>
              <a:t>→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3" name="TextBox 27"/>
          <p:cNvSpPr/>
          <p:nvPr/>
        </p:nvSpPr>
        <p:spPr>
          <a:xfrm>
            <a:off x="4950000" y="2253960"/>
            <a:ext cx="33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388e3c"/>
                </a:solidFill>
                <a:uFillTx/>
                <a:latin typeface="Calibri"/>
              </a:rPr>
              <a:t>↓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4" name="TextBox 28"/>
          <p:cNvSpPr/>
          <p:nvPr/>
        </p:nvSpPr>
        <p:spPr>
          <a:xfrm>
            <a:off x="3043800" y="3147840"/>
            <a:ext cx="33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388e3c"/>
                </a:solidFill>
                <a:uFillTx/>
                <a:latin typeface="Calibri"/>
              </a:rPr>
              <a:t>→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5" name="TextBox 29"/>
          <p:cNvSpPr/>
          <p:nvPr/>
        </p:nvSpPr>
        <p:spPr>
          <a:xfrm>
            <a:off x="5911560" y="3147840"/>
            <a:ext cx="337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388e3c"/>
                </a:solidFill>
                <a:uFillTx/>
                <a:latin typeface="Calibri"/>
              </a:rPr>
              <a:t>→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6" name="Rectangle 1"/>
          <p:cNvSpPr/>
          <p:nvPr/>
        </p:nvSpPr>
        <p:spPr>
          <a:xfrm>
            <a:off x="0" y="0"/>
            <a:ext cx="10764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57" name="TextBox 2"/>
          <p:cNvSpPr/>
          <p:nvPr/>
        </p:nvSpPr>
        <p:spPr>
          <a:xfrm>
            <a:off x="540000" y="216000"/>
            <a:ext cx="11159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trike="noStrike" u="none">
                <a:solidFill>
                  <a:srgbClr val="2e7d32"/>
                </a:solidFill>
                <a:uFillTx/>
                <a:latin typeface="Calibri"/>
              </a:rPr>
              <a:t>Modal Único: Confirmación y Selección</a:t>
            </a:r>
            <a:endParaRPr b="0" lang="es-E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0" y="0"/>
            <a:ext cx="10764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59" name="TextBox 2"/>
          <p:cNvSpPr/>
          <p:nvPr/>
        </p:nvSpPr>
        <p:spPr>
          <a:xfrm>
            <a:off x="540000" y="216000"/>
            <a:ext cx="11159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trike="noStrike" u="none">
                <a:solidFill>
                  <a:srgbClr val="2e7d32"/>
                </a:solidFill>
                <a:uFillTx/>
                <a:latin typeface="Calibri"/>
              </a:rPr>
              <a:t>Problemas y Soluciones</a:t>
            </a:r>
            <a:endParaRPr b="0" lang="es-E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60" name="Table 3"/>
          <p:cNvGraphicFramePr/>
          <p:nvPr/>
        </p:nvGraphicFramePr>
        <p:xfrm>
          <a:off x="1080000" y="1080000"/>
          <a:ext cx="9719640" cy="4679640"/>
        </p:xfrm>
        <a:graphic>
          <a:graphicData uri="http://schemas.openxmlformats.org/drawingml/2006/table">
            <a:tbl>
              <a:tblPr/>
              <a:tblGrid>
                <a:gridCol w="3960000"/>
                <a:gridCol w="5760000"/>
              </a:tblGrid>
              <a:tr h="77976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600" strike="noStrike" u="none">
                          <a:solidFill>
                            <a:srgbClr val="ffffff"/>
                          </a:solidFill>
                          <a:uFillTx/>
                          <a:latin typeface="Calibri"/>
                        </a:rPr>
                        <a:t>Problema</a:t>
                      </a:r>
                      <a:endParaRPr b="0" lang="es-ES" sz="16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600" strike="noStrike" u="none">
                          <a:solidFill>
                            <a:srgbClr val="ffffff"/>
                          </a:solidFill>
                          <a:uFillTx/>
                          <a:latin typeface="Calibri"/>
                        </a:rPr>
                        <a:t>Solución</a:t>
                      </a:r>
                      <a:endParaRPr b="0" lang="es-ES" sz="16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d32"/>
                    </a:solidFill>
                  </a:tcPr>
                </a:tc>
              </a:tr>
              <a:tr h="7797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GrabCut crashes JVM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Flood Fill en Java puro (sin código nativo)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97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UI freeze al iniciar cámara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Background thread + ProgressBar indeterminada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8e9"/>
                    </a:solidFill>
                  </a:tcPr>
                </a:tc>
              </a:tr>
              <a:tr h="7797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Doble clic en botón de cámara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AtomicBoolean guard para evitar doble inicio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97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Selección de productos con score bajo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Umbral rojo (47%) + deshabilitado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8e9"/>
                    </a:solidFill>
                  </a:tcPr>
                </a:tc>
              </a:tr>
              <a:tr h="7797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Disco EC2 lleno (/var)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333333"/>
                          </a:solidFill>
                          <a:uFillTx/>
                          <a:latin typeface="Calibri"/>
                        </a:rPr>
                        <a:t>Docker system prune automatizado</a:t>
                      </a:r>
                      <a:endParaRPr b="0" lang="es-ES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0"/>
            <a:ext cx="10764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540000" y="216000"/>
            <a:ext cx="11159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trike="noStrike" u="none">
                <a:solidFill>
                  <a:srgbClr val="2e7d32"/>
                </a:solidFill>
                <a:uFillTx/>
                <a:latin typeface="Calibri"/>
              </a:rPr>
              <a:t>Conclusiones</a:t>
            </a:r>
            <a:endParaRPr b="0" lang="es-E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792000" y="1116000"/>
            <a:ext cx="10799640" cy="30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800" strike="noStrike" u="none">
                <a:solidFill>
                  <a:srgbClr val="333333"/>
                </a:solidFill>
                <a:uFillTx/>
                <a:latin typeface="Calibri"/>
              </a:rPr>
              <a:t>CLIP ViT-B/32 identifica productos de reciclaje eficazmente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800" strike="noStrike" u="none">
                <a:solidFill>
                  <a:srgbClr val="333333"/>
                </a:solidFill>
                <a:uFillTx/>
                <a:latin typeface="Calibri"/>
              </a:rPr>
              <a:t>Java puro evita problemas de código nativo (sin crashes JVM)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800" strike="noStrike" u="none">
                <a:solidFill>
                  <a:srgbClr val="333333"/>
                </a:solidFill>
                <a:uFillTx/>
                <a:latin typeface="Calibri"/>
              </a:rPr>
              <a:t>Arquitectura escalable basada en API REST + Docker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800" strike="noStrike" u="none">
                <a:solidFill>
                  <a:srgbClr val="333333"/>
                </a:solidFill>
                <a:uFillTx/>
                <a:latin typeface="Calibri"/>
              </a:rPr>
              <a:t>Interfaz intuitiva y responsiva con feedback visual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defTabSz="457200">
              <a:lnSpc>
                <a:spcPct val="100000"/>
              </a:lnSpc>
              <a:spcBef>
                <a:spcPts val="1134"/>
              </a:spcBef>
              <a:spcAft>
                <a:spcPts val="1933"/>
              </a:spcAft>
            </a:pPr>
            <a:r>
              <a:rPr b="0" lang="en-US" sz="1800" strike="noStrike" u="none">
                <a:solidFill>
                  <a:srgbClr val="333333"/>
                </a:solidFill>
                <a:uFillTx/>
                <a:latin typeface="Calibri"/>
              </a:rPr>
              <a:t>Trabajo futuro: más productos, app móvil, mejorar bg removal</a:t>
            </a:r>
            <a:endParaRPr b="0" lang="es-ES" sz="1800" strike="noStrike" u="none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sp>
        <p:nvSpPr>
          <p:cNvPr id="164" name="Oval 4"/>
          <p:cNvSpPr/>
          <p:nvPr/>
        </p:nvSpPr>
        <p:spPr>
          <a:xfrm>
            <a:off x="540000" y="1206000"/>
            <a:ext cx="143640" cy="143640"/>
          </a:xfrm>
          <a:prstGeom prst="ellipse">
            <a:avLst/>
          </a:prstGeom>
          <a:solidFill>
            <a:srgbClr val="388e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65" name="Oval 5"/>
          <p:cNvSpPr/>
          <p:nvPr/>
        </p:nvSpPr>
        <p:spPr>
          <a:xfrm>
            <a:off x="540000" y="1890000"/>
            <a:ext cx="143640" cy="143640"/>
          </a:xfrm>
          <a:prstGeom prst="ellipse">
            <a:avLst/>
          </a:prstGeom>
          <a:solidFill>
            <a:srgbClr val="388e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66" name="Oval 6"/>
          <p:cNvSpPr/>
          <p:nvPr/>
        </p:nvSpPr>
        <p:spPr>
          <a:xfrm>
            <a:off x="540000" y="2574000"/>
            <a:ext cx="143640" cy="143640"/>
          </a:xfrm>
          <a:prstGeom prst="ellipse">
            <a:avLst/>
          </a:prstGeom>
          <a:solidFill>
            <a:srgbClr val="388e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67" name="Oval 7"/>
          <p:cNvSpPr/>
          <p:nvPr/>
        </p:nvSpPr>
        <p:spPr>
          <a:xfrm>
            <a:off x="540000" y="3258000"/>
            <a:ext cx="143640" cy="143640"/>
          </a:xfrm>
          <a:prstGeom prst="ellipse">
            <a:avLst/>
          </a:prstGeom>
          <a:solidFill>
            <a:srgbClr val="388e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68" name="Oval 8"/>
          <p:cNvSpPr/>
          <p:nvPr/>
        </p:nvSpPr>
        <p:spPr>
          <a:xfrm>
            <a:off x="540000" y="3906000"/>
            <a:ext cx="143640" cy="143640"/>
          </a:xfrm>
          <a:prstGeom prst="ellipse">
            <a:avLst/>
          </a:prstGeom>
          <a:solidFill>
            <a:srgbClr val="388e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70" name="TextBox 2"/>
          <p:cNvSpPr/>
          <p:nvPr/>
        </p:nvSpPr>
        <p:spPr>
          <a:xfrm>
            <a:off x="720000" y="2160000"/>
            <a:ext cx="1075176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trike="noStrike" u="none">
                <a:solidFill>
                  <a:srgbClr val="ffffff"/>
                </a:solidFill>
                <a:uFillTx/>
                <a:latin typeface="Calibri"/>
              </a:rPr>
              <a:t>Gracias</a:t>
            </a:r>
            <a:endParaRPr b="0" lang="es-E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1" name="TextBox 3"/>
          <p:cNvSpPr/>
          <p:nvPr/>
        </p:nvSpPr>
        <p:spPr>
          <a:xfrm>
            <a:off x="720000" y="3240000"/>
            <a:ext cx="10751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¿Preguntas?</a:t>
            </a:r>
            <a:endParaRPr b="0" lang="es-E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LibreOffice/24.8.0.3$Windows_X86_64 LibreOffice_project/0bdf1299c94fe897b119f97f3c613e9dca6be583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es-ES</dc:language>
  <cp:lastModifiedBy/>
  <dcterms:modified xsi:type="dcterms:W3CDTF">2026-06-08T12:22:56Z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